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44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Name: </a:t>
            </a:r>
            <a:r>
              <a:rPr lang="en-US" dirty="0"/>
              <a:t>Benedict </a:t>
            </a:r>
            <a:r>
              <a:rPr lang="en-KE" dirty="0" err="1"/>
              <a:t>Ngathike</a:t>
            </a:r>
            <a:r>
              <a:rPr lang="en-KE" dirty="0"/>
              <a:t> </a:t>
            </a:r>
            <a:r>
              <a:rPr lang="en-US" dirty="0"/>
              <a:t>Musyoki</a:t>
            </a:r>
            <a:br>
              <a:rPr lang="en-US" b="1" dirty="0"/>
            </a:br>
            <a:r>
              <a:rPr lang="en-US" b="1" dirty="0"/>
              <a:t>Course: </a:t>
            </a:r>
            <a:r>
              <a:rPr lang="en-US" dirty="0"/>
              <a:t>Bachelor of Science in Information Technology</a:t>
            </a:r>
            <a:br>
              <a:rPr lang="en-US" b="1" dirty="0"/>
            </a:br>
            <a:r>
              <a:rPr lang="en-US" b="1" dirty="0"/>
              <a:t>Registration Number: </a:t>
            </a:r>
            <a:r>
              <a:rPr lang="en-US" dirty="0"/>
              <a:t>C025-01-0834/2022</a:t>
            </a:r>
            <a:br>
              <a:rPr lang="en-US" b="1" dirty="0"/>
            </a:br>
            <a:r>
              <a:rPr lang="en-US" b="1" dirty="0"/>
              <a:t>Unit: </a:t>
            </a:r>
            <a:r>
              <a:rPr lang="en-US" dirty="0"/>
              <a:t>Capstone Project</a:t>
            </a:r>
            <a:br>
              <a:rPr lang="en-US" b="1" dirty="0"/>
            </a:br>
            <a:r>
              <a:rPr lang="en-US" b="1" dirty="0"/>
              <a:t>Task:</a:t>
            </a:r>
            <a:r>
              <a:rPr lang="en-KE" b="1" dirty="0"/>
              <a:t> </a:t>
            </a:r>
            <a:r>
              <a:rPr lang="en-KE" dirty="0"/>
              <a:t>Innovation in IT(</a:t>
            </a:r>
            <a:r>
              <a:rPr lang="en-US" dirty="0"/>
              <a:t>Artificial Intelligence &amp; Machine Learning in Healthcare</a:t>
            </a:r>
            <a:r>
              <a:rPr lang="en-KE" dirty="0"/>
              <a:t>)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de-DE" sz="3700">
                <a:solidFill>
                  <a:srgbClr val="FFFFFF"/>
                </a:solidFill>
              </a:rPr>
              <a:t>Definition of Artificial Intelligence (AI)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endParaRPr lang="en-US" dirty="0"/>
          </a:p>
          <a:p>
            <a:pPr marL="0" indent="0">
              <a:buNone/>
              <a:defRPr sz="1800"/>
            </a:pPr>
            <a:r>
              <a:rPr lang="en-US" b="1" dirty="0"/>
              <a:t>Artificial Intelligence (AI) </a:t>
            </a:r>
            <a:r>
              <a:rPr lang="en-US" dirty="0"/>
              <a:t>refers to the simulation of human intelligence by machines. It enables systems to learn, reason, and make decisions.</a:t>
            </a:r>
          </a:p>
          <a:p>
            <a:pPr marL="0" indent="0">
              <a:buNone/>
              <a:defRPr sz="1800"/>
            </a:pPr>
            <a:r>
              <a:rPr lang="en-US" b="1" dirty="0"/>
              <a:t>Examples: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lang="en-US" dirty="0"/>
              <a:t>Virtual Assistants – Siri, Alexa, Google Assistant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lang="en-US" dirty="0"/>
              <a:t>Healthcare – AI-based diagnosis, drug discovery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lang="en-US" dirty="0"/>
              <a:t>Self-driving cars – Tesla's Autopilot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lang="en-US" dirty="0"/>
              <a:t>Recommendation engines – Netflix, YouTube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de-DE" sz="3100">
                <a:solidFill>
                  <a:srgbClr val="FFFFFF"/>
                </a:solidFill>
              </a:rPr>
              <a:t>What is Artificial Intelligence?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b="1" dirty="0"/>
              <a:t>Key Capabilities: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dirty="0"/>
              <a:t>Learning from data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dirty="0"/>
              <a:t>Making informed decisions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dirty="0"/>
              <a:t>Improving over time</a:t>
            </a:r>
          </a:p>
          <a:p>
            <a:pPr marL="0" indent="0">
              <a:buNone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b="1" dirty="0"/>
              <a:t>Types of AI in healthcare: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dirty="0"/>
              <a:t>Machine Learning (ML)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dirty="0"/>
              <a:t>Deep Learning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dirty="0"/>
              <a:t>Natural Language Processing (NLP)</a:t>
            </a:r>
          </a:p>
          <a:p>
            <a:pPr marL="0" indent="0">
              <a:buNone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b="1" dirty="0"/>
              <a:t>Applications: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dirty="0"/>
              <a:t>Diagnose diseases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dirty="0"/>
              <a:t>Predict health risks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dirty="0"/>
              <a:t>Provide personalized treatments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Importance of AI in Healthcare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b="1" dirty="0"/>
              <a:t>Why AI matters: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dirty="0"/>
              <a:t>Shortage of doctors vs growing patient population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dirty="0"/>
              <a:t>Misdiagnosis &amp; delayed treatment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dirty="0"/>
              <a:t>Limited access to specialists</a:t>
            </a:r>
          </a:p>
          <a:p>
            <a:pPr marL="0" indent="0">
              <a:buNone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b="1" dirty="0"/>
              <a:t>Benefits: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dirty="0"/>
              <a:t>Improves diagnostic accuracy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dirty="0"/>
              <a:t>Speeds up treatment processes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dirty="0"/>
              <a:t>Enhances decision-making for doctors</a:t>
            </a:r>
          </a:p>
          <a:p>
            <a:pPr>
              <a:defRPr sz="2000">
                <a:solidFill>
                  <a:srgbClr val="1E1E1E"/>
                </a:solidFill>
                <a:latin typeface="Calibri"/>
              </a:defRPr>
            </a:pPr>
            <a:endParaRPr lang="en-US" sz="2000" dirty="0"/>
          </a:p>
          <a:p>
            <a:pPr marL="0" indent="0">
              <a:buNone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b="1" dirty="0"/>
              <a:t>Statistic: </a:t>
            </a:r>
            <a:r>
              <a:rPr lang="en-US" sz="2000" dirty="0"/>
              <a:t>AI diagnostic tools achieve up to 94% accuracy in cancer detection.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Background of AI in Healthcare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de-DE" sz="2000" b="1" dirty="0"/>
              <a:t>AI </a:t>
            </a:r>
            <a:r>
              <a:rPr lang="de-DE" sz="2000" b="1" dirty="0" err="1"/>
              <a:t>development</a:t>
            </a:r>
            <a:r>
              <a:rPr lang="de-DE" sz="2000" b="1" dirty="0"/>
              <a:t> </a:t>
            </a:r>
            <a:r>
              <a:rPr lang="de-DE" sz="2000" b="1" dirty="0" err="1"/>
              <a:t>timeline</a:t>
            </a:r>
            <a:r>
              <a:rPr lang="de-DE" sz="2000" b="1" dirty="0"/>
              <a:t>: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de-DE" sz="2000" dirty="0"/>
              <a:t>1960s → First </a:t>
            </a:r>
            <a:r>
              <a:rPr lang="de-DE" sz="2000" dirty="0" err="1"/>
              <a:t>diagnostic</a:t>
            </a:r>
            <a:r>
              <a:rPr lang="de-DE" sz="2000" dirty="0"/>
              <a:t> </a:t>
            </a:r>
            <a:r>
              <a:rPr lang="de-DE" sz="2000" dirty="0" err="1"/>
              <a:t>systems</a:t>
            </a:r>
            <a:r>
              <a:rPr lang="de-DE" sz="2000" dirty="0"/>
              <a:t> like MYCIN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de-DE" sz="2000" dirty="0"/>
              <a:t>1990s → Basic </a:t>
            </a:r>
            <a:r>
              <a:rPr lang="de-DE" sz="2000" dirty="0" err="1"/>
              <a:t>hospital</a:t>
            </a:r>
            <a:r>
              <a:rPr lang="de-DE" sz="2000" dirty="0"/>
              <a:t> AI </a:t>
            </a:r>
            <a:r>
              <a:rPr lang="de-DE" sz="2000" dirty="0" err="1"/>
              <a:t>tools</a:t>
            </a:r>
            <a:r>
              <a:rPr lang="de-DE" sz="2000" dirty="0"/>
              <a:t> </a:t>
            </a:r>
            <a:r>
              <a:rPr lang="de-DE" sz="2000" dirty="0" err="1"/>
              <a:t>emerge</a:t>
            </a:r>
            <a:endParaRPr lang="de-DE" sz="2000" dirty="0"/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de-DE" sz="2000" dirty="0"/>
              <a:t>2010s → Big </a:t>
            </a:r>
            <a:r>
              <a:rPr lang="de-DE" sz="2000" dirty="0" err="1"/>
              <a:t>data</a:t>
            </a:r>
            <a:r>
              <a:rPr lang="de-DE" sz="2000" dirty="0"/>
              <a:t> + </a:t>
            </a:r>
            <a:r>
              <a:rPr lang="de-DE" sz="2000" dirty="0" err="1"/>
              <a:t>computing</a:t>
            </a:r>
            <a:r>
              <a:rPr lang="de-DE" sz="2000" dirty="0"/>
              <a:t> power </a:t>
            </a:r>
            <a:r>
              <a:rPr lang="de-DE" sz="2000" dirty="0" err="1"/>
              <a:t>accelerate</a:t>
            </a:r>
            <a:r>
              <a:rPr lang="de-DE" sz="2000" dirty="0"/>
              <a:t> AI</a:t>
            </a:r>
          </a:p>
          <a:p>
            <a:pPr marL="0" indent="0">
              <a:buNone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de-DE" sz="2000" b="1" dirty="0" err="1"/>
              <a:t>Present</a:t>
            </a:r>
            <a:r>
              <a:rPr lang="de-DE" sz="2000" b="1" dirty="0"/>
              <a:t>-Day </a:t>
            </a:r>
            <a:r>
              <a:rPr lang="de-DE" sz="2000" b="1" dirty="0" err="1"/>
              <a:t>Applications</a:t>
            </a:r>
            <a:r>
              <a:rPr lang="de-DE" sz="2000" b="1" dirty="0"/>
              <a:t>: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de-DE" sz="2000" dirty="0"/>
              <a:t>Cancer </a:t>
            </a:r>
            <a:r>
              <a:rPr lang="de-DE" sz="2000" dirty="0" err="1"/>
              <a:t>detection</a:t>
            </a:r>
            <a:endParaRPr lang="de-DE" sz="2000" dirty="0"/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de-DE" sz="2000" dirty="0"/>
              <a:t>Heart </a:t>
            </a:r>
            <a:r>
              <a:rPr lang="de-DE" sz="2000" dirty="0" err="1"/>
              <a:t>disease</a:t>
            </a:r>
            <a:r>
              <a:rPr lang="de-DE" sz="2000" dirty="0"/>
              <a:t> </a:t>
            </a:r>
            <a:r>
              <a:rPr lang="de-DE" sz="2000" dirty="0" err="1"/>
              <a:t>prediction</a:t>
            </a:r>
            <a:endParaRPr lang="de-DE" sz="2000" dirty="0"/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de-DE" sz="2000" dirty="0"/>
              <a:t>Mental </a:t>
            </a:r>
            <a:r>
              <a:rPr lang="de-DE" sz="2000" dirty="0" err="1"/>
              <a:t>health</a:t>
            </a:r>
            <a:r>
              <a:rPr lang="de-DE" sz="2000" dirty="0"/>
              <a:t> </a:t>
            </a:r>
            <a:r>
              <a:rPr lang="de-DE" sz="2000" dirty="0" err="1"/>
              <a:t>analysis</a:t>
            </a:r>
            <a:endParaRPr lang="de-DE" sz="2000" dirty="0"/>
          </a:p>
          <a:p>
            <a:pPr marL="0" indent="0">
              <a:buNone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de-DE" sz="2000" b="1" dirty="0"/>
              <a:t>African </a:t>
            </a:r>
            <a:r>
              <a:rPr lang="de-DE" sz="2000" b="1" dirty="0" err="1"/>
              <a:t>Context</a:t>
            </a:r>
            <a:r>
              <a:rPr lang="de-DE" sz="2000" b="1" dirty="0"/>
              <a:t>: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de-DE" sz="2000" dirty="0"/>
              <a:t>AI </a:t>
            </a:r>
            <a:r>
              <a:rPr lang="de-DE" sz="2000" dirty="0" err="1"/>
              <a:t>chatbots</a:t>
            </a:r>
            <a:r>
              <a:rPr lang="de-DE" sz="2000" dirty="0"/>
              <a:t> </a:t>
            </a:r>
            <a:r>
              <a:rPr lang="de-DE" sz="2000" dirty="0" err="1"/>
              <a:t>offer</a:t>
            </a:r>
            <a:r>
              <a:rPr lang="de-DE" sz="2000" dirty="0"/>
              <a:t> </a:t>
            </a:r>
            <a:r>
              <a:rPr lang="de-DE" sz="2000" dirty="0" err="1"/>
              <a:t>medical</a:t>
            </a:r>
            <a:r>
              <a:rPr lang="de-DE" sz="2000" dirty="0"/>
              <a:t> </a:t>
            </a:r>
            <a:r>
              <a:rPr lang="de-DE" sz="2000" dirty="0" err="1"/>
              <a:t>advice</a:t>
            </a:r>
            <a:endParaRPr lang="de-DE" sz="2000" dirty="0"/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de-DE" sz="2000" dirty="0" err="1"/>
              <a:t>Algorithms</a:t>
            </a:r>
            <a:r>
              <a:rPr lang="de-DE" sz="2000" dirty="0"/>
              <a:t> </a:t>
            </a:r>
            <a:r>
              <a:rPr lang="de-DE" sz="2000" dirty="0" err="1"/>
              <a:t>trained</a:t>
            </a:r>
            <a:r>
              <a:rPr lang="de-DE" sz="2000" dirty="0"/>
              <a:t> </a:t>
            </a:r>
            <a:r>
              <a:rPr lang="de-DE" sz="2000" dirty="0" err="1"/>
              <a:t>for</a:t>
            </a:r>
            <a:r>
              <a:rPr lang="de-DE" sz="2000" dirty="0"/>
              <a:t> TB &amp; </a:t>
            </a:r>
            <a:r>
              <a:rPr lang="de-DE" sz="2000" dirty="0" err="1"/>
              <a:t>malaria</a:t>
            </a:r>
            <a:r>
              <a:rPr lang="de-DE" sz="2000" dirty="0"/>
              <a:t> </a:t>
            </a:r>
            <a:r>
              <a:rPr lang="de-DE" sz="2000" dirty="0" err="1"/>
              <a:t>detection</a:t>
            </a:r>
            <a:endParaRPr lang="de-DE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How AI Works in Healthcare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de-DE" sz="2000" b="1" dirty="0"/>
              <a:t>AI </a:t>
            </a:r>
            <a:r>
              <a:rPr lang="de-DE" sz="2000" b="1" dirty="0" err="1"/>
              <a:t>works</a:t>
            </a:r>
            <a:r>
              <a:rPr lang="de-DE" sz="2000" b="1" dirty="0"/>
              <a:t> </a:t>
            </a:r>
            <a:r>
              <a:rPr lang="de-DE" sz="2000" b="1" dirty="0" err="1"/>
              <a:t>through</a:t>
            </a:r>
            <a:r>
              <a:rPr lang="de-DE" sz="2000" b="1" dirty="0"/>
              <a:t> </a:t>
            </a:r>
            <a:r>
              <a:rPr lang="de-DE" sz="2000" b="1" dirty="0" err="1"/>
              <a:t>machine</a:t>
            </a:r>
            <a:r>
              <a:rPr lang="de-DE" sz="2000" b="1" dirty="0"/>
              <a:t> </a:t>
            </a:r>
            <a:r>
              <a:rPr lang="de-DE" sz="2000" b="1" dirty="0" err="1"/>
              <a:t>learning</a:t>
            </a:r>
            <a:r>
              <a:rPr lang="de-DE" sz="2000" b="1" dirty="0"/>
              <a:t>:</a:t>
            </a:r>
          </a:p>
          <a:p>
            <a:pPr marL="457200" indent="-457200">
              <a:buFont typeface="+mj-lt"/>
              <a:buAutoNum type="arabicPeriod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de-DE" sz="2000" dirty="0"/>
              <a:t>Data Collection → Patient </a:t>
            </a:r>
            <a:r>
              <a:rPr lang="de-DE" sz="2000" dirty="0" err="1"/>
              <a:t>history</a:t>
            </a:r>
            <a:r>
              <a:rPr lang="de-DE" sz="2000" dirty="0"/>
              <a:t>, </a:t>
            </a:r>
            <a:r>
              <a:rPr lang="de-DE" sz="2000" dirty="0" err="1"/>
              <a:t>scans</a:t>
            </a:r>
            <a:r>
              <a:rPr lang="de-DE" sz="2000" dirty="0"/>
              <a:t>, </a:t>
            </a:r>
            <a:r>
              <a:rPr lang="de-DE" sz="2000" dirty="0" err="1"/>
              <a:t>genetics</a:t>
            </a:r>
            <a:endParaRPr lang="de-DE" sz="2000" dirty="0"/>
          </a:p>
          <a:p>
            <a:pPr marL="457200" indent="-457200">
              <a:buFont typeface="+mj-lt"/>
              <a:buAutoNum type="arabicPeriod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de-DE" sz="2000" dirty="0"/>
              <a:t>Model Training → </a:t>
            </a:r>
            <a:r>
              <a:rPr lang="de-DE" sz="2000" dirty="0" err="1"/>
              <a:t>Algorithms</a:t>
            </a:r>
            <a:r>
              <a:rPr lang="de-DE" sz="2000" dirty="0"/>
              <a:t> </a:t>
            </a:r>
            <a:r>
              <a:rPr lang="de-DE" sz="2000" dirty="0" err="1"/>
              <a:t>learn</a:t>
            </a:r>
            <a:r>
              <a:rPr lang="de-DE" sz="2000" dirty="0"/>
              <a:t> </a:t>
            </a:r>
            <a:r>
              <a:rPr lang="de-DE" sz="2000" dirty="0" err="1"/>
              <a:t>patterns</a:t>
            </a:r>
            <a:endParaRPr lang="de-DE" sz="2000" dirty="0"/>
          </a:p>
          <a:p>
            <a:pPr marL="457200" indent="-457200">
              <a:buFont typeface="+mj-lt"/>
              <a:buAutoNum type="arabicPeriod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de-DE" sz="2000" dirty="0" err="1"/>
              <a:t>Prediction</a:t>
            </a:r>
            <a:r>
              <a:rPr lang="de-DE" sz="2000" dirty="0"/>
              <a:t>/Diagnosis → </a:t>
            </a:r>
            <a:r>
              <a:rPr lang="de-DE" sz="2000" dirty="0" err="1"/>
              <a:t>Detect</a:t>
            </a:r>
            <a:r>
              <a:rPr lang="de-DE" sz="2000" dirty="0"/>
              <a:t> </a:t>
            </a:r>
            <a:r>
              <a:rPr lang="de-DE" sz="2000" dirty="0" err="1"/>
              <a:t>diseases</a:t>
            </a:r>
            <a:r>
              <a:rPr lang="de-DE" sz="2000" dirty="0"/>
              <a:t> </a:t>
            </a:r>
            <a:r>
              <a:rPr lang="de-DE" sz="2000" dirty="0" err="1"/>
              <a:t>early</a:t>
            </a:r>
            <a:endParaRPr lang="de-DE" sz="2000" dirty="0"/>
          </a:p>
          <a:p>
            <a:pPr marL="457200" indent="-457200">
              <a:buFont typeface="+mj-lt"/>
              <a:buAutoNum type="arabicPeriod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de-DE" sz="2000" dirty="0"/>
              <a:t>Treatment </a:t>
            </a:r>
            <a:r>
              <a:rPr lang="de-DE" sz="2000" dirty="0" err="1"/>
              <a:t>Suggestions</a:t>
            </a:r>
            <a:r>
              <a:rPr lang="de-DE" sz="2000" dirty="0"/>
              <a:t> → </a:t>
            </a:r>
            <a:r>
              <a:rPr lang="de-DE" sz="2000" dirty="0" err="1"/>
              <a:t>Based</a:t>
            </a:r>
            <a:r>
              <a:rPr lang="de-DE" sz="2000" dirty="0"/>
              <a:t> on </a:t>
            </a:r>
            <a:r>
              <a:rPr lang="de-DE" sz="2000" dirty="0" err="1"/>
              <a:t>successful</a:t>
            </a:r>
            <a:r>
              <a:rPr lang="de-DE" sz="2000" dirty="0"/>
              <a:t> </a:t>
            </a:r>
            <a:r>
              <a:rPr lang="de-DE" sz="2000" dirty="0" err="1"/>
              <a:t>outcomes</a:t>
            </a:r>
            <a:endParaRPr lang="de-DE" sz="2000" dirty="0"/>
          </a:p>
          <a:p>
            <a:pPr marL="457200" indent="-457200">
              <a:buFont typeface="+mj-lt"/>
              <a:buAutoNum type="arabicPeriod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de-DE" sz="2000" dirty="0" err="1"/>
              <a:t>Continuous</a:t>
            </a:r>
            <a:r>
              <a:rPr lang="de-DE" sz="2000" dirty="0"/>
              <a:t> Learning → </a:t>
            </a:r>
            <a:r>
              <a:rPr lang="de-DE" sz="2000" dirty="0" err="1"/>
              <a:t>Improves</a:t>
            </a:r>
            <a:r>
              <a:rPr lang="de-DE" sz="2000" dirty="0"/>
              <a:t> </a:t>
            </a:r>
            <a:r>
              <a:rPr lang="de-DE" sz="2000" dirty="0" err="1"/>
              <a:t>with</a:t>
            </a:r>
            <a:r>
              <a:rPr lang="de-DE" sz="2000" dirty="0"/>
              <a:t> </a:t>
            </a:r>
            <a:r>
              <a:rPr lang="de-DE" sz="2000" dirty="0" err="1"/>
              <a:t>more</a:t>
            </a:r>
            <a:r>
              <a:rPr lang="de-DE" sz="2000" dirty="0"/>
              <a:t> </a:t>
            </a:r>
            <a:r>
              <a:rPr lang="de-DE" sz="2000" dirty="0" err="1"/>
              <a:t>data</a:t>
            </a:r>
            <a:endParaRPr lang="de-DE" sz="2000" dirty="0"/>
          </a:p>
          <a:p>
            <a:pPr>
              <a:defRPr sz="2000">
                <a:solidFill>
                  <a:srgbClr val="1E1E1E"/>
                </a:solidFill>
                <a:latin typeface="Calibri"/>
              </a:defRPr>
            </a:pPr>
            <a:endParaRPr lang="de-DE" sz="2000" dirty="0"/>
          </a:p>
          <a:p>
            <a:pPr marL="0" indent="0">
              <a:buNone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de-DE" sz="2000" b="1" dirty="0" err="1"/>
              <a:t>Example</a:t>
            </a:r>
            <a:r>
              <a:rPr lang="de-DE" sz="2000" b="1" dirty="0"/>
              <a:t>: </a:t>
            </a:r>
            <a:r>
              <a:rPr lang="de-DE" sz="2000" dirty="0" err="1"/>
              <a:t>Google's</a:t>
            </a:r>
            <a:r>
              <a:rPr lang="de-DE" sz="2000" dirty="0"/>
              <a:t> DeepMind </a:t>
            </a:r>
            <a:r>
              <a:rPr lang="de-DE" sz="2000" dirty="0" err="1"/>
              <a:t>diagnosed</a:t>
            </a:r>
            <a:r>
              <a:rPr lang="de-DE" sz="2000" dirty="0"/>
              <a:t> </a:t>
            </a:r>
            <a:r>
              <a:rPr lang="de-DE" sz="2000" dirty="0" err="1"/>
              <a:t>over</a:t>
            </a:r>
            <a:r>
              <a:rPr lang="de-DE" sz="2000" dirty="0"/>
              <a:t> 50 </a:t>
            </a:r>
            <a:r>
              <a:rPr lang="de-DE" sz="2000" dirty="0" err="1"/>
              <a:t>eye</a:t>
            </a:r>
            <a:r>
              <a:rPr lang="de-DE" sz="2000" dirty="0"/>
              <a:t> </a:t>
            </a:r>
            <a:r>
              <a:rPr lang="de-DE" sz="2000" dirty="0" err="1"/>
              <a:t>diseases</a:t>
            </a:r>
            <a:r>
              <a:rPr lang="de-DE" sz="2000" dirty="0"/>
              <a:t> </a:t>
            </a:r>
            <a:r>
              <a:rPr lang="de-DE" sz="2000" dirty="0" err="1"/>
              <a:t>with</a:t>
            </a:r>
            <a:r>
              <a:rPr lang="de-DE" sz="2000" dirty="0"/>
              <a:t> expert-level </a:t>
            </a:r>
            <a:r>
              <a:rPr lang="de-DE" sz="2000" dirty="0" err="1"/>
              <a:t>accuracy</a:t>
            </a:r>
            <a:r>
              <a:rPr lang="de-DE" sz="2000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de-DE">
                <a:solidFill>
                  <a:srgbClr val="FFFFFF"/>
                </a:solidFill>
              </a:rPr>
              <a:t>Real-World Example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de-DE" sz="2000" b="1" dirty="0"/>
              <a:t>Case Study: Google DeepMind AI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de-DE" sz="2000" dirty="0" err="1"/>
              <a:t>Analyzed</a:t>
            </a:r>
            <a:r>
              <a:rPr lang="de-DE" sz="2000" dirty="0"/>
              <a:t> </a:t>
            </a:r>
            <a:r>
              <a:rPr lang="de-DE" sz="2000" dirty="0" err="1"/>
              <a:t>hundreds</a:t>
            </a:r>
            <a:r>
              <a:rPr lang="de-DE" sz="2000" dirty="0"/>
              <a:t> </a:t>
            </a:r>
            <a:r>
              <a:rPr lang="de-DE" sz="2000" dirty="0" err="1"/>
              <a:t>of</a:t>
            </a:r>
            <a:r>
              <a:rPr lang="de-DE" sz="2000" dirty="0"/>
              <a:t> </a:t>
            </a:r>
            <a:r>
              <a:rPr lang="de-DE" sz="2000" dirty="0" err="1"/>
              <a:t>thousands</a:t>
            </a:r>
            <a:r>
              <a:rPr lang="de-DE" sz="2000" dirty="0"/>
              <a:t> </a:t>
            </a:r>
            <a:r>
              <a:rPr lang="de-DE" sz="2000" dirty="0" err="1"/>
              <a:t>of</a:t>
            </a:r>
            <a:r>
              <a:rPr lang="de-DE" sz="2000" dirty="0"/>
              <a:t> retinal </a:t>
            </a:r>
            <a:r>
              <a:rPr lang="de-DE" sz="2000" dirty="0" err="1"/>
              <a:t>images</a:t>
            </a:r>
            <a:endParaRPr lang="de-DE" sz="2000" dirty="0"/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de-DE" sz="2000" dirty="0" err="1"/>
              <a:t>Diagnosed</a:t>
            </a:r>
            <a:r>
              <a:rPr lang="de-DE" sz="2000" dirty="0"/>
              <a:t> 50+ </a:t>
            </a:r>
            <a:r>
              <a:rPr lang="de-DE" sz="2000" dirty="0" err="1"/>
              <a:t>eye</a:t>
            </a:r>
            <a:r>
              <a:rPr lang="de-DE" sz="2000" dirty="0"/>
              <a:t> </a:t>
            </a:r>
            <a:r>
              <a:rPr lang="de-DE" sz="2000" dirty="0" err="1"/>
              <a:t>diseases</a:t>
            </a:r>
            <a:r>
              <a:rPr lang="de-DE" sz="2000" dirty="0"/>
              <a:t> </a:t>
            </a:r>
            <a:r>
              <a:rPr lang="de-DE" sz="2000" dirty="0" err="1"/>
              <a:t>accurately</a:t>
            </a:r>
            <a:endParaRPr lang="de-DE" sz="2000" dirty="0"/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de-DE" sz="2000" dirty="0" err="1"/>
              <a:t>Reduced</a:t>
            </a:r>
            <a:r>
              <a:rPr lang="de-DE" sz="2000" dirty="0"/>
              <a:t> </a:t>
            </a:r>
            <a:r>
              <a:rPr lang="de-DE" sz="2000" dirty="0" err="1"/>
              <a:t>misdiagnosis</a:t>
            </a:r>
            <a:r>
              <a:rPr lang="de-DE" sz="2000" dirty="0"/>
              <a:t> </a:t>
            </a:r>
            <a:r>
              <a:rPr lang="de-DE" sz="2000" dirty="0" err="1"/>
              <a:t>by</a:t>
            </a:r>
            <a:r>
              <a:rPr lang="de-DE" sz="2000" dirty="0"/>
              <a:t> 23%</a:t>
            </a:r>
          </a:p>
          <a:p>
            <a:pPr>
              <a:defRPr sz="2000">
                <a:solidFill>
                  <a:srgbClr val="1E1E1E"/>
                </a:solidFill>
                <a:latin typeface="Calibri"/>
              </a:defRPr>
            </a:pPr>
            <a:endParaRPr lang="de-DE" sz="2000" dirty="0"/>
          </a:p>
          <a:p>
            <a:pPr marL="0" indent="0">
              <a:buNone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de-DE" sz="2000" b="1" dirty="0"/>
              <a:t>IBM Watson Health: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de-DE" sz="2000" dirty="0"/>
              <a:t>Assists </a:t>
            </a:r>
            <a:r>
              <a:rPr lang="de-DE" sz="2000" dirty="0" err="1"/>
              <a:t>oncologists</a:t>
            </a:r>
            <a:r>
              <a:rPr lang="de-DE" sz="2000" dirty="0"/>
              <a:t> in </a:t>
            </a:r>
            <a:r>
              <a:rPr lang="de-DE" sz="2000" dirty="0" err="1"/>
              <a:t>personalized</a:t>
            </a:r>
            <a:r>
              <a:rPr lang="de-DE" sz="2000" dirty="0"/>
              <a:t> </a:t>
            </a:r>
            <a:r>
              <a:rPr lang="de-DE" sz="2000" dirty="0" err="1"/>
              <a:t>cancer</a:t>
            </a:r>
            <a:r>
              <a:rPr lang="de-DE" sz="2000" dirty="0"/>
              <a:t> </a:t>
            </a:r>
            <a:r>
              <a:rPr lang="de-DE" sz="2000" dirty="0" err="1"/>
              <a:t>treatment</a:t>
            </a:r>
            <a:endParaRPr lang="de-DE" sz="2000" dirty="0"/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de-DE" sz="2000" dirty="0" err="1"/>
              <a:t>Processes</a:t>
            </a:r>
            <a:r>
              <a:rPr lang="de-DE" sz="2000" dirty="0"/>
              <a:t> massive </a:t>
            </a:r>
            <a:r>
              <a:rPr lang="de-DE" sz="2000" dirty="0" err="1"/>
              <a:t>datasets</a:t>
            </a:r>
            <a:r>
              <a:rPr lang="de-DE" sz="2000" dirty="0"/>
              <a:t> in </a:t>
            </a:r>
            <a:r>
              <a:rPr lang="de-DE" sz="2000" dirty="0" err="1"/>
              <a:t>seconds</a:t>
            </a:r>
            <a:endParaRPr lang="de-DE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Applications of AI in Healthcare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de-DE" sz="2000" b="1" dirty="0"/>
              <a:t>Key </a:t>
            </a:r>
            <a:r>
              <a:rPr lang="de-DE" sz="2000" b="1" dirty="0" err="1"/>
              <a:t>Applications</a:t>
            </a:r>
            <a:r>
              <a:rPr lang="de-DE" sz="2000" b="1" dirty="0"/>
              <a:t>: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de-DE" sz="2000" dirty="0"/>
              <a:t>Early Diagnosis → </a:t>
            </a:r>
            <a:r>
              <a:rPr lang="de-DE" sz="2000" dirty="0" err="1"/>
              <a:t>Detect</a:t>
            </a:r>
            <a:r>
              <a:rPr lang="de-DE" sz="2000" dirty="0"/>
              <a:t> </a:t>
            </a:r>
            <a:r>
              <a:rPr lang="de-DE" sz="2000" dirty="0" err="1"/>
              <a:t>cancers</a:t>
            </a:r>
            <a:r>
              <a:rPr lang="de-DE" sz="2000" dirty="0"/>
              <a:t>, </a:t>
            </a:r>
            <a:r>
              <a:rPr lang="de-DE" sz="2000" dirty="0" err="1"/>
              <a:t>heart</a:t>
            </a:r>
            <a:r>
              <a:rPr lang="de-DE" sz="2000" dirty="0"/>
              <a:t> </a:t>
            </a:r>
            <a:r>
              <a:rPr lang="de-DE" sz="2000" dirty="0" err="1"/>
              <a:t>issues</a:t>
            </a:r>
            <a:r>
              <a:rPr lang="de-DE" sz="2000" dirty="0"/>
              <a:t>, </a:t>
            </a:r>
            <a:r>
              <a:rPr lang="de-DE" sz="2000" dirty="0" err="1"/>
              <a:t>diabetes</a:t>
            </a:r>
            <a:endParaRPr lang="de-DE" sz="2000" dirty="0"/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de-DE" sz="2000" dirty="0"/>
              <a:t>Drug Discovery → Speeds </a:t>
            </a:r>
            <a:r>
              <a:rPr lang="de-DE" sz="2000" dirty="0" err="1"/>
              <a:t>up</a:t>
            </a:r>
            <a:r>
              <a:rPr lang="de-DE" sz="2000" dirty="0"/>
              <a:t> </a:t>
            </a:r>
            <a:r>
              <a:rPr lang="de-DE" sz="2000" dirty="0" err="1"/>
              <a:t>medicine</a:t>
            </a:r>
            <a:r>
              <a:rPr lang="de-DE" sz="2000" dirty="0"/>
              <a:t> </a:t>
            </a:r>
            <a:r>
              <a:rPr lang="de-DE" sz="2000" dirty="0" err="1"/>
              <a:t>development</a:t>
            </a:r>
            <a:endParaRPr lang="de-DE" sz="2000" dirty="0"/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de-DE" sz="2000" dirty="0" err="1"/>
              <a:t>Personalized</a:t>
            </a:r>
            <a:r>
              <a:rPr lang="de-DE" sz="2000" dirty="0"/>
              <a:t> Medicine → Treatments </a:t>
            </a:r>
            <a:r>
              <a:rPr lang="de-DE" sz="2000" dirty="0" err="1"/>
              <a:t>tailored</a:t>
            </a:r>
            <a:r>
              <a:rPr lang="de-DE" sz="2000" dirty="0"/>
              <a:t> </a:t>
            </a:r>
            <a:r>
              <a:rPr lang="de-DE" sz="2000" dirty="0" err="1"/>
              <a:t>to</a:t>
            </a:r>
            <a:r>
              <a:rPr lang="de-DE" sz="2000" dirty="0"/>
              <a:t> </a:t>
            </a:r>
            <a:r>
              <a:rPr lang="de-DE" sz="2000" dirty="0" err="1"/>
              <a:t>each</a:t>
            </a:r>
            <a:r>
              <a:rPr lang="de-DE" sz="2000" dirty="0"/>
              <a:t> </a:t>
            </a:r>
            <a:r>
              <a:rPr lang="de-DE" sz="2000" dirty="0" err="1"/>
              <a:t>patient</a:t>
            </a:r>
            <a:endParaRPr lang="de-DE" sz="2000" dirty="0"/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de-DE" sz="2000" dirty="0"/>
              <a:t>Remote </a:t>
            </a:r>
            <a:r>
              <a:rPr lang="de-DE" sz="2000" dirty="0" err="1"/>
              <a:t>Healthcare</a:t>
            </a:r>
            <a:r>
              <a:rPr lang="de-DE" sz="2000" dirty="0"/>
              <a:t> → AI-</a:t>
            </a:r>
            <a:r>
              <a:rPr lang="de-DE" sz="2000" dirty="0" err="1"/>
              <a:t>powered</a:t>
            </a:r>
            <a:r>
              <a:rPr lang="de-DE" sz="2000" dirty="0"/>
              <a:t> </a:t>
            </a:r>
            <a:r>
              <a:rPr lang="de-DE" sz="2000" dirty="0" err="1"/>
              <a:t>chatbots</a:t>
            </a:r>
            <a:r>
              <a:rPr lang="de-DE" sz="2000" dirty="0"/>
              <a:t> &amp; </a:t>
            </a:r>
            <a:r>
              <a:rPr lang="de-DE" sz="2000" dirty="0" err="1"/>
              <a:t>telemedicine</a:t>
            </a:r>
            <a:endParaRPr lang="de-DE" sz="2000" dirty="0"/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de-DE" sz="2000" dirty="0"/>
              <a:t>Hospital Administration → </a:t>
            </a:r>
            <a:r>
              <a:rPr lang="de-DE" sz="2000" dirty="0" err="1"/>
              <a:t>Automates</a:t>
            </a:r>
            <a:r>
              <a:rPr lang="de-DE" sz="2000" dirty="0"/>
              <a:t> </a:t>
            </a:r>
            <a:r>
              <a:rPr lang="de-DE" sz="2000" dirty="0" err="1"/>
              <a:t>billing</a:t>
            </a:r>
            <a:r>
              <a:rPr lang="de-DE" sz="2000" dirty="0"/>
              <a:t>, </a:t>
            </a:r>
            <a:r>
              <a:rPr lang="de-DE" sz="2000" dirty="0" err="1"/>
              <a:t>scheduling</a:t>
            </a:r>
            <a:r>
              <a:rPr lang="de-DE" sz="2000" dirty="0"/>
              <a:t>, and </a:t>
            </a:r>
            <a:r>
              <a:rPr lang="de-DE" sz="2000" dirty="0" err="1"/>
              <a:t>monitoring</a:t>
            </a:r>
            <a:endParaRPr lang="de-DE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de-DE">
                <a:solidFill>
                  <a:srgbClr val="FFFFFF"/>
                </a:solidFill>
              </a:rPr>
              <a:t>Impact on Kenya &amp; Africa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de-DE" sz="2000" dirty="0" err="1"/>
              <a:t>Kenya's</a:t>
            </a:r>
            <a:r>
              <a:rPr lang="de-DE" sz="2000" dirty="0"/>
              <a:t> </a:t>
            </a:r>
            <a:r>
              <a:rPr lang="de-DE" sz="2000" dirty="0" err="1"/>
              <a:t>doctor</a:t>
            </a:r>
            <a:r>
              <a:rPr lang="de-DE" sz="2000" dirty="0"/>
              <a:t>-</a:t>
            </a:r>
            <a:r>
              <a:rPr lang="de-DE" sz="2000" dirty="0" err="1"/>
              <a:t>to</a:t>
            </a:r>
            <a:r>
              <a:rPr lang="de-DE" sz="2000" dirty="0"/>
              <a:t>-patient </a:t>
            </a:r>
            <a:r>
              <a:rPr lang="de-DE" sz="2000" dirty="0" err="1"/>
              <a:t>ratio</a:t>
            </a:r>
            <a:r>
              <a:rPr lang="de-DE" sz="2000" dirty="0"/>
              <a:t>: 1:160</a:t>
            </a:r>
          </a:p>
          <a:p>
            <a:pPr>
              <a:defRPr sz="2000">
                <a:solidFill>
                  <a:srgbClr val="1E1E1E"/>
                </a:solidFill>
                <a:latin typeface="Calibri"/>
              </a:defRPr>
            </a:pPr>
            <a:endParaRPr lang="de-DE" sz="2000" dirty="0"/>
          </a:p>
          <a:p>
            <a:pPr marL="0" indent="0">
              <a:buNone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de-DE" sz="2000" b="1" dirty="0"/>
              <a:t>AI Solutions: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de-DE" sz="2000" dirty="0"/>
              <a:t>AI-</a:t>
            </a:r>
            <a:r>
              <a:rPr lang="de-DE" sz="2000" dirty="0" err="1"/>
              <a:t>powered</a:t>
            </a:r>
            <a:r>
              <a:rPr lang="de-DE" sz="2000" dirty="0"/>
              <a:t> mobile </a:t>
            </a:r>
            <a:r>
              <a:rPr lang="de-DE" sz="2000" dirty="0" err="1"/>
              <a:t>apps</a:t>
            </a:r>
            <a:r>
              <a:rPr lang="de-DE" sz="2000" dirty="0"/>
              <a:t> bring </a:t>
            </a:r>
            <a:r>
              <a:rPr lang="de-DE" sz="2000" dirty="0" err="1"/>
              <a:t>healthcare</a:t>
            </a:r>
            <a:r>
              <a:rPr lang="de-DE" sz="2000" dirty="0"/>
              <a:t> </a:t>
            </a:r>
            <a:r>
              <a:rPr lang="de-DE" sz="2000" dirty="0" err="1"/>
              <a:t>to</a:t>
            </a:r>
            <a:r>
              <a:rPr lang="de-DE" sz="2000" dirty="0"/>
              <a:t> rural </a:t>
            </a:r>
            <a:r>
              <a:rPr lang="de-DE" sz="2000" dirty="0" err="1"/>
              <a:t>areas</a:t>
            </a:r>
            <a:endParaRPr lang="de-DE" sz="2000" dirty="0"/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de-DE" sz="2000" dirty="0" err="1"/>
              <a:t>Diagnostic</a:t>
            </a:r>
            <a:r>
              <a:rPr lang="de-DE" sz="2000" dirty="0"/>
              <a:t> AI </a:t>
            </a: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malaria</a:t>
            </a:r>
            <a:r>
              <a:rPr lang="de-DE" sz="2000" dirty="0"/>
              <a:t>, TB &amp; HIV </a:t>
            </a:r>
            <a:r>
              <a:rPr lang="de-DE" sz="2000" dirty="0" err="1"/>
              <a:t>detection</a:t>
            </a:r>
            <a:endParaRPr lang="de-DE" sz="2000" dirty="0"/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de-DE" sz="2000" dirty="0"/>
              <a:t>Smart </a:t>
            </a:r>
            <a:r>
              <a:rPr lang="de-DE" sz="2000" dirty="0" err="1"/>
              <a:t>hospital</a:t>
            </a:r>
            <a:r>
              <a:rPr lang="de-DE" sz="2000" dirty="0"/>
              <a:t> </a:t>
            </a:r>
            <a:r>
              <a:rPr lang="de-DE" sz="2000" dirty="0" err="1"/>
              <a:t>systems</a:t>
            </a:r>
            <a:r>
              <a:rPr lang="de-DE" sz="2000" dirty="0"/>
              <a:t> </a:t>
            </a:r>
            <a:r>
              <a:rPr lang="de-DE" sz="2000" dirty="0" err="1"/>
              <a:t>improve</a:t>
            </a:r>
            <a:r>
              <a:rPr lang="de-DE" sz="2000" dirty="0"/>
              <a:t> </a:t>
            </a:r>
            <a:r>
              <a:rPr lang="de-DE" sz="2000" dirty="0" err="1"/>
              <a:t>resource</a:t>
            </a:r>
            <a:r>
              <a:rPr lang="de-DE" sz="2000" dirty="0"/>
              <a:t> </a:t>
            </a:r>
            <a:r>
              <a:rPr lang="de-DE" sz="2000" dirty="0" err="1"/>
              <a:t>allocation</a:t>
            </a:r>
            <a:endParaRPr lang="de-DE" sz="2000" dirty="0"/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de-DE" sz="2000" dirty="0"/>
              <a:t>AI </a:t>
            </a:r>
            <a:r>
              <a:rPr lang="de-DE" sz="2000" dirty="0" err="1"/>
              <a:t>reduces</a:t>
            </a:r>
            <a:r>
              <a:rPr lang="de-DE" sz="2000" dirty="0"/>
              <a:t> </a:t>
            </a:r>
            <a:r>
              <a:rPr lang="de-DE" sz="2000" dirty="0" err="1"/>
              <a:t>hospital</a:t>
            </a:r>
            <a:r>
              <a:rPr lang="de-DE" sz="2000" dirty="0"/>
              <a:t> </a:t>
            </a:r>
            <a:r>
              <a:rPr lang="de-DE" sz="2000" dirty="0" err="1"/>
              <a:t>congestion</a:t>
            </a:r>
            <a:r>
              <a:rPr lang="de-DE" sz="2000" dirty="0"/>
              <a:t> and </a:t>
            </a:r>
            <a:r>
              <a:rPr lang="de-DE" sz="2000" dirty="0" err="1"/>
              <a:t>waiting</a:t>
            </a:r>
            <a:r>
              <a:rPr lang="de-DE" sz="2000" dirty="0"/>
              <a:t> </a:t>
            </a:r>
            <a:r>
              <a:rPr lang="de-DE" sz="2000" dirty="0" err="1"/>
              <a:t>times</a:t>
            </a:r>
            <a:endParaRPr lang="de-DE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de-DE" sz="3700">
                <a:solidFill>
                  <a:srgbClr val="FFFFFF"/>
                </a:solidFill>
              </a:rPr>
              <a:t>Challenges &amp; Limitations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b="1" dirty="0"/>
              <a:t>Technical Challenges: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dirty="0"/>
              <a:t>Data privacy risks &amp; cybersecurity threats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dirty="0"/>
              <a:t>Limited healthcare infrastructure in rural hospitals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endParaRPr lang="en-US" sz="2000" dirty="0"/>
          </a:p>
          <a:p>
            <a:pPr marL="0" indent="0">
              <a:buNone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b="1" dirty="0"/>
              <a:t>Human Challenges: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dirty="0"/>
              <a:t>Lack of AI skills among healthcare professionals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dirty="0"/>
              <a:t>Bias in algorithms trained on non-African data</a:t>
            </a:r>
          </a:p>
          <a:p>
            <a:pPr>
              <a:defRPr sz="2000">
                <a:solidFill>
                  <a:srgbClr val="1E1E1E"/>
                </a:solidFill>
                <a:latin typeface="Calibri"/>
              </a:defRPr>
            </a:pPr>
            <a:endParaRPr lang="en-US" sz="2000" dirty="0"/>
          </a:p>
          <a:p>
            <a:pPr marL="0" indent="0">
              <a:buNone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b="1" dirty="0"/>
              <a:t>Ethical Concerns: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dirty="0"/>
              <a:t>Who is accountable for AI errors? Doctor, developer, or machine?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de-DE" sz="2800">
                <a:solidFill>
                  <a:srgbClr val="FFFFFF"/>
                </a:solidFill>
              </a:rPr>
              <a:t>Future Opportunities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b="1" dirty="0"/>
              <a:t>Opportunities for AI in healthcare: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dirty="0"/>
              <a:t>Mobile AI apps → Faster rural consultations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dirty="0"/>
              <a:t>Wearable devices → Real-time monitoring of vitals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dirty="0"/>
              <a:t>Telemedicine powered by AI → Diagnostics + online consultations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dirty="0"/>
              <a:t>African AI solutions → Locally developed for diseases like malaria</a:t>
            </a:r>
          </a:p>
          <a:p>
            <a:pPr>
              <a:buFont typeface="Wingdings" panose="05000000000000000000" pitchFamily="2" charset="2"/>
              <a:buChar char="Ø"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dirty="0"/>
              <a:t>Global collaboration → Universities, hospitals, and tech companies working together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Benefits of AI in Healthcare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b="1" dirty="0"/>
              <a:t>Patient Benefits:</a:t>
            </a:r>
          </a:p>
          <a:p>
            <a:pPr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dirty="0"/>
              <a:t>• Saves lives through early detection</a:t>
            </a:r>
          </a:p>
          <a:p>
            <a:pPr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dirty="0"/>
              <a:t>• Provides personalized treatments</a:t>
            </a:r>
          </a:p>
          <a:p>
            <a:pPr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dirty="0"/>
              <a:t>• Improves recovery rates</a:t>
            </a:r>
          </a:p>
          <a:p>
            <a:pPr>
              <a:defRPr sz="2000">
                <a:solidFill>
                  <a:srgbClr val="1E1E1E"/>
                </a:solidFill>
                <a:latin typeface="Calibri"/>
              </a:defRPr>
            </a:pPr>
            <a:endParaRPr lang="en-US" sz="2000" dirty="0"/>
          </a:p>
          <a:p>
            <a:pPr marL="0" indent="0">
              <a:buNone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b="1" dirty="0"/>
              <a:t>Healthcare System Benefits:</a:t>
            </a:r>
          </a:p>
          <a:p>
            <a:pPr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dirty="0"/>
              <a:t>• Reduces operational costs</a:t>
            </a:r>
          </a:p>
          <a:p>
            <a:pPr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dirty="0"/>
              <a:t>• Expands access in underserved regions</a:t>
            </a:r>
          </a:p>
          <a:p>
            <a:pPr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dirty="0"/>
              <a:t>• Improves efficiency in hospitals</a:t>
            </a:r>
          </a:p>
          <a:p>
            <a:pPr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dirty="0"/>
              <a:t>• Creates sustainable healthcare systems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de-DE" sz="37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dirty="0"/>
              <a:t>AI &amp; ML are revolutionizing healthcare worldwide.</a:t>
            </a:r>
          </a:p>
          <a:p>
            <a:pPr marL="0" indent="0">
              <a:buNone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dirty="0"/>
              <a:t>Benefits → Accuracy, speed, accessibility, and innovation</a:t>
            </a:r>
          </a:p>
          <a:p>
            <a:pPr marL="0" indent="0">
              <a:buNone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dirty="0"/>
              <a:t>Challenges exist but can be addressed with proper regulation</a:t>
            </a:r>
          </a:p>
          <a:p>
            <a:pPr marL="0" indent="0">
              <a:buNone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2000" dirty="0"/>
              <a:t>AI supports doctors rather than replacing them</a:t>
            </a:r>
          </a:p>
          <a:p>
            <a:pPr>
              <a:defRPr sz="2000">
                <a:solidFill>
                  <a:srgbClr val="1E1E1E"/>
                </a:solidFill>
                <a:latin typeface="Calibri"/>
              </a:defRPr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638</Words>
  <Application>Microsoft Office PowerPoint</Application>
  <PresentationFormat>On-screen Show (4:3)</PresentationFormat>
  <Paragraphs>112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Wingdings</vt:lpstr>
      <vt:lpstr>Office Theme</vt:lpstr>
      <vt:lpstr>PowerPoint Presentation</vt:lpstr>
      <vt:lpstr>Definition of Artificial Intelligence (AI)</vt:lpstr>
      <vt:lpstr>What is Artificial Intelligence?</vt:lpstr>
      <vt:lpstr>Importance of AI in Healthcare</vt:lpstr>
      <vt:lpstr>Background of AI in Healthcare</vt:lpstr>
      <vt:lpstr>How AI Works in Healthcare</vt:lpstr>
      <vt:lpstr>Real-World Example</vt:lpstr>
      <vt:lpstr>Applications of AI in Healthcare</vt:lpstr>
      <vt:lpstr>Impact on Kenya &amp; Africa</vt:lpstr>
      <vt:lpstr>Challenges &amp; Limitations</vt:lpstr>
      <vt:lpstr>Future Opportunities</vt:lpstr>
      <vt:lpstr>Benefits of AI in Healthcare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Th3 R1val</dc:creator>
  <cp:keywords/>
  <dc:description>generated using python-pptx</dc:description>
  <cp:lastModifiedBy>Th3 R1val</cp:lastModifiedBy>
  <cp:revision>2</cp:revision>
  <dcterms:created xsi:type="dcterms:W3CDTF">2013-01-27T09:14:16Z</dcterms:created>
  <dcterms:modified xsi:type="dcterms:W3CDTF">2025-08-31T22:30:00Z</dcterms:modified>
  <cp:category/>
</cp:coreProperties>
</file>